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D1F95-E1D7-3642-8DA7-68FE4DF70C91}" v="1" dt="2025-04-06T17:42:22.047"/>
    <p1510:client id="{8875EEC3-544E-BF0E-2BBB-3014F0773F9B}" v="16" dt="2025-04-06T18:50:36.510"/>
    <p1510:client id="{8BB8FB3A-B862-B6BA-1587-7634449B9D0D}" v="14" dt="2025-04-06T16:49:59.864"/>
    <p1510:client id="{915F403D-675B-47E6-B382-3C2CBA67606B}" v="9" dt="2025-04-06T12:18:09.431"/>
    <p1510:client id="{D661D581-EE42-D000-28D6-C412F35B928A}" v="27" dt="2025-04-06T16:57:32.087"/>
    <p1510:client id="{ECAF9FEF-2E84-7595-0220-CE6B2D1F9DD8}" v="80" dt="2025-04-06T17:59:26.1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87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00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22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95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04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4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2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0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41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6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042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1538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41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54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14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21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79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0198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43762-023-00100-2" TargetMode="External"/><Relationship Id="rId2" Type="http://schemas.openxmlformats.org/officeDocument/2006/relationships/hyperlink" Target="http://dx.doi.org/10.1109/ACCESS.2019.292508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004" y="629266"/>
            <a:ext cx="3739102" cy="14698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/>
              <a:t>AI-Enabled Urban Heat Island Mitigation System</a:t>
            </a:r>
          </a:p>
        </p:txBody>
      </p:sp>
      <p:pic>
        <p:nvPicPr>
          <p:cNvPr id="4" name="Picture 3" descr="A blue and orange logo&#10;&#10;AI-generated content may be incorrect.">
            <a:extLst>
              <a:ext uri="{FF2B5EF4-FFF2-40B4-BE49-F238E27FC236}">
                <a16:creationId xmlns:a16="http://schemas.microsoft.com/office/drawing/2014/main" id="{59C0E770-5CF5-0253-84BE-55182A9E0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85" y="1471051"/>
            <a:ext cx="3195817" cy="39980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003" y="2337683"/>
            <a:ext cx="3739103" cy="3910716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</a:pPr>
            <a:endParaRPr lang="en-US" sz="1900"/>
          </a:p>
          <a:p>
            <a:pPr marL="342900" indent="-342900">
              <a:lnSpc>
                <a:spcPct val="90000"/>
              </a:lnSpc>
            </a:pPr>
            <a:r>
              <a:rPr lang="en-US" sz="1900"/>
              <a:t>Submitted by: Richard Samuel (41821048) and   Shourya Setu (41621025)</a:t>
            </a:r>
          </a:p>
          <a:p>
            <a:pPr marL="342900" indent="-342900">
              <a:lnSpc>
                <a:spcPct val="90000"/>
              </a:lnSpc>
            </a:pPr>
            <a:r>
              <a:rPr lang="en-US" sz="1900"/>
              <a:t>Supervised by: Prof. Krishna Singh</a:t>
            </a:r>
          </a:p>
          <a:p>
            <a:pPr marL="342900" indent="-342900">
              <a:lnSpc>
                <a:spcPct val="90000"/>
              </a:lnSpc>
            </a:pPr>
            <a:r>
              <a:rPr lang="en-US" sz="1900"/>
              <a:t>Department of Electronics &amp; Communication Engineering</a:t>
            </a:r>
          </a:p>
          <a:p>
            <a:pPr marL="342900" indent="-342900">
              <a:lnSpc>
                <a:spcPct val="90000"/>
              </a:lnSpc>
            </a:pPr>
            <a:r>
              <a:rPr lang="en-US" sz="1900"/>
              <a:t>G B Pant DSEU Okhla – I Campus, New Delhi</a:t>
            </a:r>
          </a:p>
          <a:p>
            <a:pPr marL="342900" indent="-342900">
              <a:lnSpc>
                <a:spcPct val="90000"/>
              </a:lnSpc>
            </a:pPr>
            <a:r>
              <a:rPr lang="en-US" sz="1900"/>
              <a:t>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2492184" cy="1641987"/>
          </a:xfrm>
        </p:spPr>
        <p:txBody>
          <a:bodyPr>
            <a:normAutofit/>
          </a:bodyPr>
          <a:lstStyle/>
          <a:p>
            <a:r>
              <a:rPr lang="en-US" sz="290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DAAB9F-24E2-F29A-2AF7-1E301F693A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896"/>
          <a:stretch/>
        </p:blipFill>
        <p:spPr>
          <a:xfrm>
            <a:off x="3536415" y="578847"/>
            <a:ext cx="4804025" cy="561829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237" y="1454294"/>
            <a:ext cx="3712989" cy="47941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1700"/>
          </a:p>
          <a:p>
            <a:pPr>
              <a:lnSpc>
                <a:spcPct val="90000"/>
              </a:lnSpc>
            </a:pPr>
            <a:r>
              <a:rPr lang="en-US" sz="1700"/>
              <a:t>Urban areas experience higher temperatures due to heat-absorbing materials, pollution, and lack of vegetation.</a:t>
            </a:r>
          </a:p>
          <a:p>
            <a:pPr>
              <a:lnSpc>
                <a:spcPct val="90000"/>
              </a:lnSpc>
            </a:pPr>
            <a:r>
              <a:rPr lang="en-US" sz="1700"/>
              <a:t>This is known as the Urban Heat Island (UHI) effect.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778D3-87DA-52D9-318C-C244F74A3A0C}"/>
              </a:ext>
            </a:extLst>
          </p:cNvPr>
          <p:cNvSpPr txBox="1"/>
          <p:nvPr/>
        </p:nvSpPr>
        <p:spPr>
          <a:xfrm>
            <a:off x="4345829" y="6253754"/>
            <a:ext cx="29732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Source: Pexels.com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UHI leads to increased energy demand, health risks, and pollution.</a:t>
            </a:r>
          </a:p>
          <a:p>
            <a:r>
              <a:t>Traditional mitigation strategies are expensive and slow.</a:t>
            </a:r>
          </a:p>
          <a:p>
            <a:r>
              <a:t>AI can provide real-time, cost-effective, and adaptive mitigation solutions.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Develop AI-based real-time environmental monitoring.</a:t>
            </a:r>
          </a:p>
          <a:p>
            <a:r>
              <a:t>Predict temperature and air quality using ML models.</a:t>
            </a:r>
          </a:p>
          <a:p>
            <a:r>
              <a:t>Implement smart cooling strategies.</a:t>
            </a:r>
          </a:p>
          <a:p>
            <a:r>
              <a:t>Support urban planners with data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for UHI Mitigation?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AI enables cost-effective, real-time monitoring.</a:t>
            </a:r>
          </a:p>
          <a:p>
            <a:r>
              <a:t>Automatically implements cooling strategies.</a:t>
            </a:r>
          </a:p>
          <a:p>
            <a:r>
              <a:t>Adapts to changing environmental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ML techniques like Random Forest, LSTM for environmental prediction.</a:t>
            </a:r>
          </a:p>
          <a:p>
            <a:r>
              <a:t>IoT + AI integration enables adaptive cooling systems.</a:t>
            </a:r>
          </a:p>
          <a:p>
            <a:r>
              <a:t>Research on carbon-neutral urban designs.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IoT-Based Data Collection: Sensors + ESP8266/ESP32.</a:t>
            </a:r>
          </a:p>
          <a:p>
            <a:r>
              <a:t>AI Models: Random Forest, LSTM, XGBoost.</a:t>
            </a:r>
          </a:p>
          <a:p>
            <a:r>
              <a:t>Smart Cooling: Water misting, dynamic shading, green space optimization.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Step 1: Collect real-time data via sensors.</a:t>
            </a:r>
          </a:p>
          <a:p>
            <a:r>
              <a:t>Step 2: Train AI models using historical data.</a:t>
            </a:r>
          </a:p>
          <a:p>
            <a:r>
              <a:t>Step 3: Implement automated cooling strategies.</a:t>
            </a:r>
          </a:p>
          <a:p>
            <a:r>
              <a:t>Step 4: Monitor and adapt using feedback.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&amp; 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Hardware: DHT22, MQ-135, ESP8266/ESP32, water pump, relay, power supply.</a:t>
            </a:r>
          </a:p>
          <a:p>
            <a:r>
              <a:t>Software: Arduino IDE, Python, TensorFlow, Scikit-Learn, AWS IoT/Firebase, Power BI.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Real-time UHI mitigation through smart systems.</a:t>
            </a:r>
          </a:p>
          <a:p>
            <a:r>
              <a:t>Accurate forecasting of environmental conditions.</a:t>
            </a:r>
          </a:p>
          <a:p>
            <a:r>
              <a:t>Actionable data for sustainable city planning.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391567"/>
            <a:ext cx="6711654" cy="485683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endParaRPr lang="en-US"/>
          </a:p>
          <a:p>
            <a:pPr marL="342900" indent="-342900"/>
            <a:r>
              <a:rPr lang="en-US" sz="1400">
                <a:latin typeface="Century Gothic"/>
                <a:cs typeface="Times New Roman"/>
              </a:rPr>
              <a:t>Abid Khan, </a:t>
            </a:r>
            <a:r>
              <a:rPr lang="en-US" sz="1400" err="1">
                <a:latin typeface="Century Gothic"/>
                <a:cs typeface="Times New Roman"/>
              </a:rPr>
              <a:t>houbing</a:t>
            </a:r>
            <a:r>
              <a:rPr lang="en-US" sz="1400">
                <a:latin typeface="Century Gothic"/>
                <a:cs typeface="Times New Roman"/>
              </a:rPr>
              <a:t> Herbert Song and Munam Ali Singh, “Comparative Analysis of Machine Learning Techniques for Predicting Air Quality in Smart Cities,” Elsevier, vol. 3, no. 10, pp. 1-30, DOI:</a:t>
            </a:r>
            <a:r>
              <a:rPr lang="en-US" sz="1400">
                <a:latin typeface="Century Gothic"/>
                <a:ea typeface="Roboto"/>
                <a:cs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10.1109/ACCESS.2019.2925082</a:t>
            </a:r>
            <a:endParaRPr lang="en-US" sz="1400">
              <a:latin typeface="Century Gothic"/>
              <a:ea typeface="Roboto"/>
              <a:cs typeface="Roboto"/>
            </a:endParaRPr>
          </a:p>
          <a:p>
            <a:pPr marL="342900" indent="-342900">
              <a:buClr>
                <a:srgbClr val="8AD0D6"/>
              </a:buClr>
            </a:pPr>
            <a:r>
              <a:rPr lang="en-US" sz="1400">
                <a:latin typeface="Century Gothic"/>
                <a:cs typeface="Times New Roman"/>
              </a:rPr>
              <a:t>Jain, H., </a:t>
            </a:r>
            <a:r>
              <a:rPr lang="en-US" sz="1400" err="1">
                <a:latin typeface="Century Gothic"/>
                <a:cs typeface="Times New Roman"/>
              </a:rPr>
              <a:t>Dhupper</a:t>
            </a:r>
            <a:r>
              <a:rPr lang="en-US" sz="1400">
                <a:latin typeface="Century Gothic"/>
                <a:cs typeface="Times New Roman"/>
              </a:rPr>
              <a:t>, R., Shrivastava, A. </a:t>
            </a:r>
            <a:r>
              <a:rPr lang="en-US" sz="1400" i="1">
                <a:latin typeface="Century Gothic"/>
                <a:cs typeface="Times New Roman"/>
              </a:rPr>
              <a:t>et al.</a:t>
            </a:r>
            <a:r>
              <a:rPr lang="en-US" sz="1400">
                <a:latin typeface="Century Gothic"/>
                <a:cs typeface="Times New Roman"/>
              </a:rPr>
              <a:t> AI-enabled strategies for climate change adaptation: protecting communities, infrastructure, and businesses from the impacts of climate change. </a:t>
            </a:r>
            <a:r>
              <a:rPr lang="en-US" sz="1400" i="1" err="1">
                <a:latin typeface="Century Gothic"/>
                <a:cs typeface="Times New Roman"/>
              </a:rPr>
              <a:t>Comput.Urban</a:t>
            </a:r>
            <a:r>
              <a:rPr lang="en-US" sz="1400" i="1">
                <a:latin typeface="Century Gothic"/>
                <a:cs typeface="Times New Roman"/>
              </a:rPr>
              <a:t> Sci.</a:t>
            </a:r>
            <a:r>
              <a:rPr lang="en-US" sz="1400">
                <a:latin typeface="Century Gothic"/>
                <a:cs typeface="Times New Roman"/>
              </a:rPr>
              <a:t> 3, 25 (2023). </a:t>
            </a:r>
            <a:r>
              <a:rPr lang="en-US" sz="1400">
                <a:latin typeface="Century Gothic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https://doi.org/10.1007/s43762-023-00100-2</a:t>
            </a:r>
            <a:endParaRPr lang="en-US" sz="1400">
              <a:latin typeface="Century Gothic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indent="-342900">
              <a:buClr>
                <a:srgbClr val="8AD0D6"/>
              </a:buClr>
            </a:pPr>
            <a:r>
              <a:rPr lang="en-US" sz="1400">
                <a:latin typeface="Century Gothic"/>
                <a:cs typeface="Times New Roman"/>
              </a:rPr>
              <a:t>T. Verma, S. </a:t>
            </a:r>
            <a:r>
              <a:rPr lang="en-US" sz="1400" err="1">
                <a:latin typeface="Century Gothic"/>
                <a:cs typeface="Times New Roman"/>
              </a:rPr>
              <a:t>Bilgaiyan</a:t>
            </a:r>
            <a:r>
              <a:rPr lang="en-US" sz="1400">
                <a:latin typeface="Century Gothic"/>
                <a:cs typeface="Times New Roman"/>
              </a:rPr>
              <a:t> and J. P. Singh, "Application of Machine Learning in Climate Change Strategies," </a:t>
            </a:r>
            <a:r>
              <a:rPr lang="en-US" sz="1400" i="1">
                <a:latin typeface="Century Gothic"/>
                <a:cs typeface="Times New Roman"/>
              </a:rPr>
              <a:t>2024 Second International Conference on Networks, Multimedia and Information Technology (NMITCON)</a:t>
            </a:r>
            <a:r>
              <a:rPr lang="en-US" sz="1400">
                <a:latin typeface="Century Gothic"/>
                <a:cs typeface="Times New Roman"/>
              </a:rPr>
              <a:t>, Bengaluru, India, 2024, pp. 1-6, </a:t>
            </a:r>
            <a:r>
              <a:rPr lang="en-US" sz="1400" err="1">
                <a:latin typeface="Century Gothic"/>
                <a:cs typeface="Times New Roman"/>
              </a:rPr>
              <a:t>doi</a:t>
            </a:r>
            <a:r>
              <a:rPr lang="en-US" sz="1400">
                <a:latin typeface="Century Gothic"/>
                <a:cs typeface="Times New Roman"/>
              </a:rPr>
              <a:t>: 10.1109/NMITCON62075.2024.10699258.</a:t>
            </a:r>
            <a:endParaRPr lang="en-US" sz="1400">
              <a:latin typeface="Century Gothic"/>
            </a:endParaRPr>
          </a:p>
          <a:p>
            <a:pPr marL="342900" indent="-342900">
              <a:buClr>
                <a:srgbClr val="8AD0D6"/>
              </a:buClr>
            </a:pPr>
            <a:r>
              <a:rPr lang="en-US" sz="1400" i="1">
                <a:latin typeface="Century Gothic"/>
                <a:cs typeface="Times New Roman"/>
              </a:rPr>
              <a:t>Nuruzzaman, Md. (2015). Urban Heat Island: Causes, Effects and Mitigation Measures -A Review. International Journal of Environmental Monitoring and Analysis. 3. 67-73. 10.11648/j.ijema.20150302.15. </a:t>
            </a:r>
            <a:endParaRPr lang="en-US" sz="1400">
              <a:latin typeface="Century Gothic"/>
            </a:endParaRPr>
          </a:p>
          <a:p>
            <a:pPr marL="342900" indent="-342900">
              <a:buClr>
                <a:srgbClr val="8AD0D6"/>
              </a:buClr>
            </a:pPr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Ion</vt:lpstr>
      <vt:lpstr>AI-Enabled Urban Heat Island Mitigation System</vt:lpstr>
      <vt:lpstr>Introduction</vt:lpstr>
      <vt:lpstr>Problem Statement</vt:lpstr>
      <vt:lpstr>Objectives</vt:lpstr>
      <vt:lpstr>Why AI for UHI Mitigation?</vt:lpstr>
      <vt:lpstr>Literature Survey</vt:lpstr>
      <vt:lpstr>Proposed System Architecture</vt:lpstr>
      <vt:lpstr>Methodology</vt:lpstr>
      <vt:lpstr>Hardware &amp; Software Requirements</vt:lpstr>
      <vt:lpstr>Expected Outcomes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2025-04-06T21:18:27Z</dcterms:modified>
  <cp:category/>
</cp:coreProperties>
</file>